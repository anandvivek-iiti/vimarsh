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73" r:id="rId2"/>
  </p:sldIdLst>
  <p:sldSz cx="6858000" cy="9431338"/>
  <p:notesSz cx="6858000" cy="9144000"/>
  <p:defaultTextStyle>
    <a:defPPr>
      <a:defRPr lang="en-US"/>
    </a:defPPr>
    <a:lvl1pPr marL="0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47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41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90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737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84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031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178" algn="l" defTabSz="45714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000099"/>
    <a:srgbClr val="F6BB00"/>
    <a:srgbClr val="D2A000"/>
    <a:srgbClr val="090139"/>
    <a:srgbClr val="E3E0CB"/>
    <a:srgbClr val="EFECD5"/>
    <a:srgbClr val="C2C4F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 autoAdjust="0"/>
    <p:restoredTop sz="94648"/>
  </p:normalViewPr>
  <p:slideViewPr>
    <p:cSldViewPr snapToGrid="0">
      <p:cViewPr varScale="1">
        <p:scale>
          <a:sx n="85" d="100"/>
          <a:sy n="85" d="100"/>
        </p:scale>
        <p:origin x="2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56810-B2AA-4863-A621-99541049EE70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1143000"/>
            <a:ext cx="224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E196E-427C-4CC2-A8C5-A69E2EB17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9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47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41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90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737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84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031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178" algn="l" defTabSz="914296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E196E-427C-4CC2-A8C5-A69E2EB1717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0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43513"/>
            <a:ext cx="5829300" cy="328350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953636"/>
            <a:ext cx="5143500" cy="22770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18" indent="0" algn="ctr">
              <a:buNone/>
              <a:defRPr sz="1500"/>
            </a:lvl2pPr>
            <a:lvl3pPr marL="685628" indent="0" algn="ctr">
              <a:buNone/>
              <a:defRPr sz="1350"/>
            </a:lvl3pPr>
            <a:lvl4pPr marL="1028445" indent="0" algn="ctr">
              <a:buNone/>
              <a:defRPr sz="1200"/>
            </a:lvl4pPr>
            <a:lvl5pPr marL="1371255" indent="0" algn="ctr">
              <a:buNone/>
              <a:defRPr sz="1200"/>
            </a:lvl5pPr>
            <a:lvl6pPr marL="1714073" indent="0" algn="ctr">
              <a:buNone/>
              <a:defRPr sz="1200"/>
            </a:lvl6pPr>
            <a:lvl7pPr marL="2056883" indent="0" algn="ctr">
              <a:buNone/>
              <a:defRPr sz="1200"/>
            </a:lvl7pPr>
            <a:lvl8pPr marL="2399700" indent="0" algn="ctr">
              <a:buNone/>
              <a:defRPr sz="1200"/>
            </a:lvl8pPr>
            <a:lvl9pPr marL="274251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19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1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351288"/>
            <a:ext cx="5915025" cy="392317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311577"/>
            <a:ext cx="5915025" cy="206310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1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2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4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2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0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8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5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1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10660"/>
            <a:ext cx="2914650" cy="5984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10660"/>
            <a:ext cx="2914650" cy="5984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4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502135"/>
            <a:ext cx="5915025" cy="1822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11988"/>
            <a:ext cx="2901255" cy="113307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18" indent="0">
              <a:buNone/>
              <a:defRPr sz="1500" b="1"/>
            </a:lvl2pPr>
            <a:lvl3pPr marL="685628" indent="0">
              <a:buNone/>
              <a:defRPr sz="1350" b="1"/>
            </a:lvl3pPr>
            <a:lvl4pPr marL="1028445" indent="0">
              <a:buNone/>
              <a:defRPr sz="1200" b="1"/>
            </a:lvl4pPr>
            <a:lvl5pPr marL="1371255" indent="0">
              <a:buNone/>
              <a:defRPr sz="1200" b="1"/>
            </a:lvl5pPr>
            <a:lvl6pPr marL="1714073" indent="0">
              <a:buNone/>
              <a:defRPr sz="1200" b="1"/>
            </a:lvl6pPr>
            <a:lvl7pPr marL="2056883" indent="0">
              <a:buNone/>
              <a:defRPr sz="1200" b="1"/>
            </a:lvl7pPr>
            <a:lvl8pPr marL="2399700" indent="0">
              <a:buNone/>
              <a:defRPr sz="1200" b="1"/>
            </a:lvl8pPr>
            <a:lvl9pPr marL="274251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445060"/>
            <a:ext cx="2901255" cy="5067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76" y="2311988"/>
            <a:ext cx="2915543" cy="113307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18" indent="0">
              <a:buNone/>
              <a:defRPr sz="1500" b="1"/>
            </a:lvl2pPr>
            <a:lvl3pPr marL="685628" indent="0">
              <a:buNone/>
              <a:defRPr sz="1350" b="1"/>
            </a:lvl3pPr>
            <a:lvl4pPr marL="1028445" indent="0">
              <a:buNone/>
              <a:defRPr sz="1200" b="1"/>
            </a:lvl4pPr>
            <a:lvl5pPr marL="1371255" indent="0">
              <a:buNone/>
              <a:defRPr sz="1200" b="1"/>
            </a:lvl5pPr>
            <a:lvl6pPr marL="1714073" indent="0">
              <a:buNone/>
              <a:defRPr sz="1200" b="1"/>
            </a:lvl6pPr>
            <a:lvl7pPr marL="2056883" indent="0">
              <a:buNone/>
              <a:defRPr sz="1200" b="1"/>
            </a:lvl7pPr>
            <a:lvl8pPr marL="2399700" indent="0">
              <a:buNone/>
              <a:defRPr sz="1200" b="1"/>
            </a:lvl8pPr>
            <a:lvl9pPr marL="274251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76" y="3445060"/>
            <a:ext cx="2915543" cy="5067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4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9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52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28756"/>
            <a:ext cx="2211885" cy="220064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56" y="1357941"/>
            <a:ext cx="3471863" cy="67023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829403"/>
            <a:ext cx="2211885" cy="5241816"/>
          </a:xfrm>
        </p:spPr>
        <p:txBody>
          <a:bodyPr/>
          <a:lstStyle>
            <a:lvl1pPr marL="0" indent="0">
              <a:buNone/>
              <a:defRPr sz="1200"/>
            </a:lvl1pPr>
            <a:lvl2pPr marL="342818" indent="0">
              <a:buNone/>
              <a:defRPr sz="1050"/>
            </a:lvl2pPr>
            <a:lvl3pPr marL="685628" indent="0">
              <a:buNone/>
              <a:defRPr sz="900"/>
            </a:lvl3pPr>
            <a:lvl4pPr marL="1028445" indent="0">
              <a:buNone/>
              <a:defRPr sz="750"/>
            </a:lvl4pPr>
            <a:lvl5pPr marL="1371255" indent="0">
              <a:buNone/>
              <a:defRPr sz="750"/>
            </a:lvl5pPr>
            <a:lvl6pPr marL="1714073" indent="0">
              <a:buNone/>
              <a:defRPr sz="750"/>
            </a:lvl6pPr>
            <a:lvl7pPr marL="2056883" indent="0">
              <a:buNone/>
              <a:defRPr sz="750"/>
            </a:lvl7pPr>
            <a:lvl8pPr marL="2399700" indent="0">
              <a:buNone/>
              <a:defRPr sz="750"/>
            </a:lvl8pPr>
            <a:lvl9pPr marL="274251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97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28756"/>
            <a:ext cx="2211885" cy="220064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56" y="1357941"/>
            <a:ext cx="3471863" cy="670236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18" indent="0">
              <a:buNone/>
              <a:defRPr sz="2100"/>
            </a:lvl2pPr>
            <a:lvl3pPr marL="685628" indent="0">
              <a:buNone/>
              <a:defRPr sz="1800"/>
            </a:lvl3pPr>
            <a:lvl4pPr marL="1028445" indent="0">
              <a:buNone/>
              <a:defRPr sz="1500"/>
            </a:lvl4pPr>
            <a:lvl5pPr marL="1371255" indent="0">
              <a:buNone/>
              <a:defRPr sz="1500"/>
            </a:lvl5pPr>
            <a:lvl6pPr marL="1714073" indent="0">
              <a:buNone/>
              <a:defRPr sz="1500"/>
            </a:lvl6pPr>
            <a:lvl7pPr marL="2056883" indent="0">
              <a:buNone/>
              <a:defRPr sz="1500"/>
            </a:lvl7pPr>
            <a:lvl8pPr marL="2399700" indent="0">
              <a:buNone/>
              <a:defRPr sz="1500"/>
            </a:lvl8pPr>
            <a:lvl9pPr marL="274251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829403"/>
            <a:ext cx="2211885" cy="5241816"/>
          </a:xfrm>
        </p:spPr>
        <p:txBody>
          <a:bodyPr/>
          <a:lstStyle>
            <a:lvl1pPr marL="0" indent="0">
              <a:buNone/>
              <a:defRPr sz="1200"/>
            </a:lvl1pPr>
            <a:lvl2pPr marL="342818" indent="0">
              <a:buNone/>
              <a:defRPr sz="1050"/>
            </a:lvl2pPr>
            <a:lvl3pPr marL="685628" indent="0">
              <a:buNone/>
              <a:defRPr sz="900"/>
            </a:lvl3pPr>
            <a:lvl4pPr marL="1028445" indent="0">
              <a:buNone/>
              <a:defRPr sz="750"/>
            </a:lvl4pPr>
            <a:lvl5pPr marL="1371255" indent="0">
              <a:buNone/>
              <a:defRPr sz="750"/>
            </a:lvl5pPr>
            <a:lvl6pPr marL="1714073" indent="0">
              <a:buNone/>
              <a:defRPr sz="750"/>
            </a:lvl6pPr>
            <a:lvl7pPr marL="2056883" indent="0">
              <a:buNone/>
              <a:defRPr sz="750"/>
            </a:lvl7pPr>
            <a:lvl8pPr marL="2399700" indent="0">
              <a:buNone/>
              <a:defRPr sz="750"/>
            </a:lvl8pPr>
            <a:lvl9pPr marL="274251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91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89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73" y="502133"/>
            <a:ext cx="1478753" cy="79926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99" y="502133"/>
            <a:ext cx="4350548" cy="79926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56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502135"/>
            <a:ext cx="5915025" cy="1822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2510660"/>
            <a:ext cx="5915025" cy="5984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741456"/>
            <a:ext cx="1543050" cy="502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7953E-7317-496C-9B33-8388FA913438}" type="datetimeFigureOut">
              <a:rPr lang="en-IN" smtClean="0"/>
              <a:t>14/01/26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8741456"/>
            <a:ext cx="2314575" cy="502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741456"/>
            <a:ext cx="1543050" cy="502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E973C-9E67-44EA-9EF7-01502A25A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9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628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05" indent="-171405" algn="l" defTabSz="68562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223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33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50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668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478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95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05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923" indent="-171405" algn="l" defTabSz="68562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18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28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45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55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73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883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700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18" algn="l" defTabSz="68562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49000" r="-4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3FB85B-55C8-1A86-76FB-CBDBA5E5CE7C}"/>
              </a:ext>
            </a:extLst>
          </p:cNvPr>
          <p:cNvGrpSpPr/>
          <p:nvPr/>
        </p:nvGrpSpPr>
        <p:grpSpPr>
          <a:xfrm>
            <a:off x="-1" y="0"/>
            <a:ext cx="6968366" cy="9418154"/>
            <a:chOff x="-1" y="0"/>
            <a:chExt cx="6968366" cy="94181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BBE20E-C9FC-98C8-7D08-8E126DACBF8B}"/>
                </a:ext>
              </a:extLst>
            </p:cNvPr>
            <p:cNvSpPr txBox="1"/>
            <p:nvPr/>
          </p:nvSpPr>
          <p:spPr>
            <a:xfrm>
              <a:off x="0" y="0"/>
              <a:ext cx="6858000" cy="1233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029D95-1579-C0DB-C76B-A1CCE77B8079}"/>
                </a:ext>
              </a:extLst>
            </p:cNvPr>
            <p:cNvSpPr txBox="1"/>
            <p:nvPr/>
          </p:nvSpPr>
          <p:spPr>
            <a:xfrm>
              <a:off x="0" y="1145065"/>
              <a:ext cx="6858000" cy="1261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990000"/>
                  </a:solidFill>
                  <a:latin typeface="Amasis MT Pro Black" panose="02040A04050005020304" pitchFamily="18" charset="0"/>
                </a:rPr>
                <a:t>VIMARSH: </a:t>
              </a:r>
            </a:p>
            <a:p>
              <a:pPr algn="ctr"/>
              <a:r>
                <a:rPr lang="en-US" sz="4000" b="1" dirty="0">
                  <a:solidFill>
                    <a:srgbClr val="990000"/>
                  </a:solidFill>
                  <a:latin typeface="Amasis MT Pro Black" panose="02040A04050005020304" pitchFamily="18" charset="0"/>
                </a:rPr>
                <a:t>Institute Public Lecture 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7B0E5E-B570-8600-BDBA-520DFE9F8638}"/>
                </a:ext>
              </a:extLst>
            </p:cNvPr>
            <p:cNvGrpSpPr/>
            <p:nvPr/>
          </p:nvGrpSpPr>
          <p:grpSpPr>
            <a:xfrm>
              <a:off x="2252926" y="3865853"/>
              <a:ext cx="4605074" cy="3383786"/>
              <a:chOff x="2252926" y="1732253"/>
              <a:chExt cx="4605074" cy="3383786"/>
            </a:xfrm>
            <a:solidFill>
              <a:srgbClr val="FFCC66"/>
            </a:solidFill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AAC26E-3247-254D-96B9-71E3ADE1F942}"/>
                  </a:ext>
                </a:extLst>
              </p:cNvPr>
              <p:cNvSpPr txBox="1"/>
              <p:nvPr/>
            </p:nvSpPr>
            <p:spPr>
              <a:xfrm>
                <a:off x="2298105" y="1732253"/>
                <a:ext cx="4545113" cy="3360815"/>
              </a:xfrm>
              <a:prstGeom prst="rect">
                <a:avLst/>
              </a:prstGeom>
              <a:solidFill>
                <a:srgbClr val="E3E0CB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FF42AE-7A6B-661E-9D27-ED09CF348DC6}"/>
                  </a:ext>
                </a:extLst>
              </p:cNvPr>
              <p:cNvSpPr txBox="1"/>
              <p:nvPr/>
            </p:nvSpPr>
            <p:spPr>
              <a:xfrm>
                <a:off x="2252926" y="2776937"/>
                <a:ext cx="4605074" cy="2339102"/>
              </a:xfrm>
              <a:prstGeom prst="rect">
                <a:avLst/>
              </a:prstGeom>
              <a:noFill/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/>
                  <a:t>Distinguished Speaker:</a:t>
                </a:r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Dr. Swaminathan Kailas, </a:t>
                </a:r>
                <a:r>
                  <a:rPr lang="en-US" sz="1600" b="1" dirty="0">
                    <a:solidFill>
                      <a:srgbClr val="0000FF"/>
                    </a:solidFill>
                  </a:rPr>
                  <a:t>FNA, </a:t>
                </a:r>
                <a:r>
                  <a:rPr lang="en-US" sz="1600" b="1" dirty="0" err="1">
                    <a:solidFill>
                      <a:srgbClr val="0000FF"/>
                    </a:solidFill>
                  </a:rPr>
                  <a:t>FASc</a:t>
                </a:r>
                <a:endParaRPr lang="en-US" sz="1600" b="1" dirty="0">
                  <a:solidFill>
                    <a:srgbClr val="0000FF"/>
                  </a:solidFill>
                </a:endParaRPr>
              </a:p>
              <a:p>
                <a:r>
                  <a:rPr lang="en-US" sz="2000" b="1" dirty="0"/>
                  <a:t>Former Director, Physics Group, BARC, Mumbai</a:t>
                </a:r>
              </a:p>
              <a:p>
                <a:r>
                  <a:rPr lang="en-US" sz="2000" b="1" dirty="0"/>
                  <a:t>INSA Honorary Scientist &amp; Hon. Professor, UM-DAE Centre for Excellence in Basic Sciences, Mumbai</a:t>
                </a:r>
              </a:p>
            </p:txBody>
          </p:sp>
        </p:grpSp>
        <p:pic>
          <p:nvPicPr>
            <p:cNvPr id="13" name="Picture 12" descr="A blue and white logo with a book and text&#10;&#10;Description automatically generated">
              <a:extLst>
                <a:ext uri="{FF2B5EF4-FFF2-40B4-BE49-F238E27FC236}">
                  <a16:creationId xmlns:a16="http://schemas.microsoft.com/office/drawing/2014/main" id="{D72DCE23-1922-8F5F-1A36-F55D82DA2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6" y="70788"/>
              <a:ext cx="1034411" cy="11124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A132517-9D11-2753-EB8C-624DF6FD8BDD}"/>
                </a:ext>
              </a:extLst>
            </p:cNvPr>
            <p:cNvSpPr txBox="1"/>
            <p:nvPr/>
          </p:nvSpPr>
          <p:spPr>
            <a:xfrm>
              <a:off x="992050" y="127169"/>
              <a:ext cx="5976315" cy="800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300" b="1" dirty="0">
                  <a:solidFill>
                    <a:schemeClr val="accent1">
                      <a:lumMod val="50000"/>
                    </a:schemeClr>
                  </a:solidFill>
                  <a:latin typeface="Amasis MT Pro Black" panose="02040A04050005020304" pitchFamily="18" charset="0"/>
                  <a:cs typeface="Arial" panose="020B0604020202020204" pitchFamily="34" charset="0"/>
                </a:rPr>
                <a:t>INDIAN INSTITUTE OF TECHNOLOGY </a:t>
              </a:r>
            </a:p>
            <a:p>
              <a:pPr algn="ctr"/>
              <a:r>
                <a:rPr lang="en-US" sz="2300" b="1" dirty="0">
                  <a:solidFill>
                    <a:schemeClr val="accent1">
                      <a:lumMod val="50000"/>
                    </a:schemeClr>
                  </a:solidFill>
                  <a:latin typeface="Amasis MT Pro Black" panose="02040A04050005020304" pitchFamily="18" charset="0"/>
                  <a:cs typeface="Arial" panose="020B0604020202020204" pitchFamily="34" charset="0"/>
                </a:rPr>
                <a:t>INDORE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BF3637-00D9-C820-9B59-5E308729C801}"/>
                </a:ext>
              </a:extLst>
            </p:cNvPr>
            <p:cNvGrpSpPr/>
            <p:nvPr/>
          </p:nvGrpSpPr>
          <p:grpSpPr>
            <a:xfrm>
              <a:off x="-1" y="2484927"/>
              <a:ext cx="6858001" cy="1991285"/>
              <a:chOff x="4681911" y="649375"/>
              <a:chExt cx="6837870" cy="1991285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D1093C-B9DB-DCD2-56BA-2C37F3D9F7F7}"/>
                  </a:ext>
                </a:extLst>
              </p:cNvPr>
              <p:cNvSpPr txBox="1"/>
              <p:nvPr/>
            </p:nvSpPr>
            <p:spPr>
              <a:xfrm>
                <a:off x="4681911" y="649375"/>
                <a:ext cx="6837870" cy="1991285"/>
              </a:xfrm>
              <a:prstGeom prst="rect">
                <a:avLst/>
              </a:prstGeom>
              <a:solidFill>
                <a:srgbClr val="090139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D299E8-037A-0710-74BB-FDE735476A7A}"/>
                  </a:ext>
                </a:extLst>
              </p:cNvPr>
              <p:cNvSpPr txBox="1"/>
              <p:nvPr/>
            </p:nvSpPr>
            <p:spPr>
              <a:xfrm>
                <a:off x="5354734" y="812764"/>
                <a:ext cx="5423921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rgbClr val="FFC000"/>
                    </a:solidFill>
                  </a:rPr>
                  <a:t>Nuclear Science, Technology and Society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C3E7A27-6C4D-6ED8-37E9-5E4E7366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645" y="7490058"/>
              <a:ext cx="457200" cy="4572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22DCAB-1C86-19F1-CE45-559561984E64}"/>
                </a:ext>
              </a:extLst>
            </p:cNvPr>
            <p:cNvSpPr txBox="1"/>
            <p:nvPr/>
          </p:nvSpPr>
          <p:spPr>
            <a:xfrm>
              <a:off x="506476" y="7455192"/>
              <a:ext cx="2685351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900" b="1" dirty="0"/>
                <a:t>16 January 2026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C0F1A36-B3F6-4196-9810-932706A4A576}"/>
                </a:ext>
              </a:extLst>
            </p:cNvPr>
            <p:cNvSpPr txBox="1"/>
            <p:nvPr/>
          </p:nvSpPr>
          <p:spPr>
            <a:xfrm>
              <a:off x="3723481" y="7496998"/>
              <a:ext cx="2830775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900" b="1" dirty="0"/>
                <a:t>         4:30 PM IST 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3D500BF-00B3-C662-C633-4D0241B8F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888" y="8154212"/>
              <a:ext cx="443027" cy="4572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E5A27C-7A8C-DF38-316F-066DB36366BA}"/>
                </a:ext>
              </a:extLst>
            </p:cNvPr>
            <p:cNvSpPr txBox="1"/>
            <p:nvPr/>
          </p:nvSpPr>
          <p:spPr>
            <a:xfrm>
              <a:off x="1392625" y="8833379"/>
              <a:ext cx="427736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All are Welcome!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DA8F39-58ED-C1FA-5F22-CAEEB038AB6D}"/>
                </a:ext>
              </a:extLst>
            </p:cNvPr>
            <p:cNvSpPr txBox="1"/>
            <p:nvPr/>
          </p:nvSpPr>
          <p:spPr>
            <a:xfrm>
              <a:off x="513915" y="8125220"/>
              <a:ext cx="6155531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900" b="1" dirty="0"/>
                <a:t>LRC Ground Floor Lecture Hall (Library)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22C517D-C231-C3A7-7C6A-0E2B31209F6D}"/>
              </a:ext>
            </a:extLst>
          </p:cNvPr>
          <p:cNvSpPr txBox="1"/>
          <p:nvPr/>
        </p:nvSpPr>
        <p:spPr>
          <a:xfrm>
            <a:off x="3815804" y="8532243"/>
            <a:ext cx="2857962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>
                <a:solidFill>
                  <a:srgbClr val="0000FF"/>
                </a:solidFill>
              </a:rPr>
              <a:t>Contact: outreach@iiti.ac.in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F8746-6C52-2123-A0E3-08620D91333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112" t="6701" r="6057" b="8708"/>
          <a:stretch>
            <a:fillRect/>
          </a:stretch>
        </p:blipFill>
        <p:spPr>
          <a:xfrm>
            <a:off x="-18751" y="4476212"/>
            <a:ext cx="2316855" cy="2855156"/>
          </a:xfrm>
          <a:prstGeom prst="rect">
            <a:avLst/>
          </a:prstGeom>
        </p:spPr>
      </p:pic>
      <p:pic>
        <p:nvPicPr>
          <p:cNvPr id="12" name="Picture 2" descr="angle between the two hands of a clock ...">
            <a:extLst>
              <a:ext uri="{FF2B5EF4-FFF2-40B4-BE49-F238E27FC236}">
                <a16:creationId xmlns:a16="http://schemas.microsoft.com/office/drawing/2014/main" id="{4AD28B40-EB22-7DE5-CCF3-2BE76B951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142" y="7401432"/>
            <a:ext cx="745610" cy="67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226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1234</TotalTime>
  <Words>82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Amasis MT Pro Black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Kshitish Kumar Pradhan</dc:creator>
  <cp:lastModifiedBy>Raghunath Sahoo</cp:lastModifiedBy>
  <cp:revision>99</cp:revision>
  <dcterms:created xsi:type="dcterms:W3CDTF">2024-07-19T06:40:37Z</dcterms:created>
  <dcterms:modified xsi:type="dcterms:W3CDTF">2026-01-14T07:26:34Z</dcterms:modified>
</cp:coreProperties>
</file>